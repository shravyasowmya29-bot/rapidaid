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4"/>
  </p:notesMasterIdLst>
  <p:sldIdLst>
    <p:sldId id="475" r:id="rId2"/>
    <p:sldId id="257" r:id="rId3"/>
    <p:sldId id="269" r:id="rId4"/>
    <p:sldId id="480" r:id="rId5"/>
    <p:sldId id="479" r:id="rId6"/>
    <p:sldId id="481" r:id="rId7"/>
    <p:sldId id="478" r:id="rId8"/>
    <p:sldId id="476" r:id="rId9"/>
    <p:sldId id="268" r:id="rId10"/>
    <p:sldId id="270" r:id="rId11"/>
    <p:sldId id="265" r:id="rId12"/>
    <p:sldId id="266" r:id="rId13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D48B0-4400-414D-8D5A-A7F56195B729}" v="62" dt="2026-09-06T17:01:40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434" autoAdjust="0"/>
  </p:normalViewPr>
  <p:slideViewPr>
    <p:cSldViewPr snapToGrid="0">
      <p:cViewPr>
        <p:scale>
          <a:sx n="100" d="100"/>
          <a:sy n="100" d="100"/>
        </p:scale>
        <p:origin x="-120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ya sudharshan" userId="c01df4a83e375d2f" providerId="LiveId" clId="{E27EE43F-81E9-458E-A936-80257AF8F24F}"/>
    <pc:docChg chg="undo custSel addSld delSld modSld sldOrd">
      <pc:chgData name="shravya sudharshan" userId="c01df4a83e375d2f" providerId="LiveId" clId="{E27EE43F-81E9-458E-A936-80257AF8F24F}" dt="2026-09-06T17:02:53.033" v="551" actId="113"/>
      <pc:docMkLst>
        <pc:docMk/>
      </pc:docMkLst>
      <pc:sldChg chg="modSp mod">
        <pc:chgData name="shravya sudharshan" userId="c01df4a83e375d2f" providerId="LiveId" clId="{E27EE43F-81E9-458E-A936-80257AF8F24F}" dt="2026-09-06T17:02:53.033" v="551" actId="113"/>
        <pc:sldMkLst>
          <pc:docMk/>
          <pc:sldMk cId="0" sldId="265"/>
        </pc:sldMkLst>
        <pc:spChg chg="mod">
          <ac:chgData name="shravya sudharshan" userId="c01df4a83e375d2f" providerId="LiveId" clId="{E27EE43F-81E9-458E-A936-80257AF8F24F}" dt="2026-09-06T16:59:44.624" v="484" actId="1076"/>
          <ac:spMkLst>
            <pc:docMk/>
            <pc:sldMk cId="0" sldId="265"/>
            <ac:spMk id="144" creationId="{00000000-0000-0000-0000-000000000000}"/>
          </ac:spMkLst>
        </pc:spChg>
        <pc:spChg chg="mod">
          <ac:chgData name="shravya sudharshan" userId="c01df4a83e375d2f" providerId="LiveId" clId="{E27EE43F-81E9-458E-A936-80257AF8F24F}" dt="2026-09-06T17:02:53.033" v="551" actId="113"/>
          <ac:spMkLst>
            <pc:docMk/>
            <pc:sldMk cId="0" sldId="265"/>
            <ac:spMk id="145" creationId="{00000000-0000-0000-0000-000000000000}"/>
          </ac:spMkLst>
        </pc:spChg>
      </pc:sldChg>
      <pc:sldChg chg="addSp delSp modSp mod">
        <pc:chgData name="shravya sudharshan" userId="c01df4a83e375d2f" providerId="LiveId" clId="{E27EE43F-81E9-458E-A936-80257AF8F24F}" dt="2026-09-06T16:45:06.245" v="449" actId="1076"/>
        <pc:sldMkLst>
          <pc:docMk/>
          <pc:sldMk cId="2856357337" sldId="268"/>
        </pc:sldMkLst>
        <pc:spChg chg="add mod">
          <ac:chgData name="shravya sudharshan" userId="c01df4a83e375d2f" providerId="LiveId" clId="{E27EE43F-81E9-458E-A936-80257AF8F24F}" dt="2026-09-06T16:41:39.903" v="400"/>
          <ac:spMkLst>
            <pc:docMk/>
            <pc:sldMk cId="2856357337" sldId="268"/>
            <ac:spMk id="2" creationId="{00000000-0000-0000-0000-000000000000}"/>
          </ac:spMkLst>
        </pc:spChg>
        <pc:spChg chg="del">
          <ac:chgData name="shravya sudharshan" userId="c01df4a83e375d2f" providerId="LiveId" clId="{E27EE43F-81E9-458E-A936-80257AF8F24F}" dt="2026-09-06T16:44:59.596" v="448" actId="478"/>
          <ac:spMkLst>
            <pc:docMk/>
            <pc:sldMk cId="2856357337" sldId="268"/>
            <ac:spMk id="4" creationId="{00000000-0000-0000-0000-000000000000}"/>
          </ac:spMkLst>
        </pc:spChg>
        <pc:spChg chg="mod">
          <ac:chgData name="shravya sudharshan" userId="c01df4a83e375d2f" providerId="LiveId" clId="{E27EE43F-81E9-458E-A936-80257AF8F24F}" dt="2026-09-06T16:45:06.245" v="449" actId="1076"/>
          <ac:spMkLst>
            <pc:docMk/>
            <pc:sldMk cId="2856357337" sldId="268"/>
            <ac:spMk id="5" creationId="{00000000-0000-0000-0000-000000000000}"/>
          </ac:spMkLst>
        </pc:spChg>
        <pc:spChg chg="del mod">
          <ac:chgData name="shravya sudharshan" userId="c01df4a83e375d2f" providerId="LiveId" clId="{E27EE43F-81E9-458E-A936-80257AF8F24F}" dt="2026-09-06T16:41:24.430" v="397" actId="21"/>
          <ac:spMkLst>
            <pc:docMk/>
            <pc:sldMk cId="2856357337" sldId="268"/>
            <ac:spMk id="114" creationId="{00000000-0000-0000-0000-000000000000}"/>
          </ac:spMkLst>
        </pc:spChg>
      </pc:sldChg>
      <pc:sldChg chg="addSp delSp modSp mod">
        <pc:chgData name="shravya sudharshan" userId="c01df4a83e375d2f" providerId="LiveId" clId="{E27EE43F-81E9-458E-A936-80257AF8F24F}" dt="2026-09-06T16:52:52.459" v="477" actId="1076"/>
        <pc:sldMkLst>
          <pc:docMk/>
          <pc:sldMk cId="479890276" sldId="270"/>
        </pc:sldMkLst>
        <pc:spChg chg="del mod">
          <ac:chgData name="shravya sudharshan" userId="c01df4a83e375d2f" providerId="LiveId" clId="{E27EE43F-81E9-458E-A936-80257AF8F24F}" dt="2026-09-06T16:52:25.986" v="472" actId="21"/>
          <ac:spMkLst>
            <pc:docMk/>
            <pc:sldMk cId="479890276" sldId="270"/>
            <ac:spMk id="3" creationId="{6FD98F5F-3805-0F3F-EE78-8DAFAB53A1E3}"/>
          </ac:spMkLst>
        </pc:spChg>
        <pc:spChg chg="mod">
          <ac:chgData name="shravya sudharshan" userId="c01df4a83e375d2f" providerId="LiveId" clId="{E27EE43F-81E9-458E-A936-80257AF8F24F}" dt="2026-09-06T16:52:47.150" v="476" actId="1076"/>
          <ac:spMkLst>
            <pc:docMk/>
            <pc:sldMk cId="479890276" sldId="270"/>
            <ac:spMk id="114" creationId="{00000000-0000-0000-0000-000000000000}"/>
          </ac:spMkLst>
        </pc:spChg>
        <pc:picChg chg="del">
          <ac:chgData name="shravya sudharshan" userId="c01df4a83e375d2f" providerId="LiveId" clId="{E27EE43F-81E9-458E-A936-80257AF8F24F}" dt="2026-09-06T16:51:05.868" v="450" actId="478"/>
          <ac:picMkLst>
            <pc:docMk/>
            <pc:sldMk cId="479890276" sldId="270"/>
            <ac:picMk id="2" creationId="{805FBD53-FC5D-7F72-5608-EDAAFFDBA046}"/>
          </ac:picMkLst>
        </pc:picChg>
        <pc:picChg chg="add mod">
          <ac:chgData name="shravya sudharshan" userId="c01df4a83e375d2f" providerId="LiveId" clId="{E27EE43F-81E9-458E-A936-80257AF8F24F}" dt="2026-09-06T16:52:52.459" v="477" actId="1076"/>
          <ac:picMkLst>
            <pc:docMk/>
            <pc:sldMk cId="479890276" sldId="270"/>
            <ac:picMk id="5" creationId="{B24D6BD3-A358-9EF8-3BCC-850408CF4A6E}"/>
          </ac:picMkLst>
        </pc:picChg>
      </pc:sldChg>
      <pc:sldChg chg="addSp modSp mod">
        <pc:chgData name="shravya sudharshan" userId="c01df4a83e375d2f" providerId="LiveId" clId="{E27EE43F-81E9-458E-A936-80257AF8F24F}" dt="2026-09-06T16:32:21.482" v="376" actId="1076"/>
        <pc:sldMkLst>
          <pc:docMk/>
          <pc:sldMk cId="3250896396" sldId="476"/>
        </pc:sldMkLst>
        <pc:spChg chg="add mod">
          <ac:chgData name="shravya sudharshan" userId="c01df4a83e375d2f" providerId="LiveId" clId="{E27EE43F-81E9-458E-A936-80257AF8F24F}" dt="2026-09-06T16:32:21.482" v="376" actId="1076"/>
          <ac:spMkLst>
            <pc:docMk/>
            <pc:sldMk cId="3250896396" sldId="476"/>
            <ac:spMk id="2" creationId="{E1B5B7C4-812D-BC1D-08B5-ACA435AD9D5A}"/>
          </ac:spMkLst>
        </pc:spChg>
        <pc:spChg chg="mod">
          <ac:chgData name="shravya sudharshan" userId="c01df4a83e375d2f" providerId="LiveId" clId="{E27EE43F-81E9-458E-A936-80257AF8F24F}" dt="2026-09-06T16:27:13.939" v="331" actId="255"/>
          <ac:spMkLst>
            <pc:docMk/>
            <pc:sldMk cId="3250896396" sldId="476"/>
            <ac:spMk id="3" creationId="{FA7EE171-E143-6383-8BA5-E447B945EFE3}"/>
          </ac:spMkLst>
        </pc:spChg>
        <pc:spChg chg="mod">
          <ac:chgData name="shravya sudharshan" userId="c01df4a83e375d2f" providerId="LiveId" clId="{E27EE43F-81E9-458E-A936-80257AF8F24F}" dt="2026-09-06T16:30:16.463" v="362" actId="14100"/>
          <ac:spMkLst>
            <pc:docMk/>
            <pc:sldMk cId="3250896396" sldId="476"/>
            <ac:spMk id="4" creationId="{3A158C02-4ADF-2A2E-85C5-99FC60D092ED}"/>
          </ac:spMkLst>
        </pc:spChg>
      </pc:sldChg>
      <pc:sldChg chg="addSp delSp modSp mod">
        <pc:chgData name="shravya sudharshan" userId="c01df4a83e375d2f" providerId="LiveId" clId="{E27EE43F-81E9-458E-A936-80257AF8F24F}" dt="2026-09-06T16:26:14.320" v="330" actId="122"/>
        <pc:sldMkLst>
          <pc:docMk/>
          <pc:sldMk cId="2986091532" sldId="478"/>
        </pc:sldMkLst>
        <pc:spChg chg="del mod">
          <ac:chgData name="shravya sudharshan" userId="c01df4a83e375d2f" providerId="LiveId" clId="{E27EE43F-81E9-458E-A936-80257AF8F24F}" dt="2026-09-06T16:13:04.397" v="215" actId="21"/>
          <ac:spMkLst>
            <pc:docMk/>
            <pc:sldMk cId="2986091532" sldId="478"/>
            <ac:spMk id="3" creationId="{50BF7F58-9372-1CA6-DEF0-1718E64B39F3}"/>
          </ac:spMkLst>
        </pc:spChg>
        <pc:spChg chg="mod">
          <ac:chgData name="shravya sudharshan" userId="c01df4a83e375d2f" providerId="LiveId" clId="{E27EE43F-81E9-458E-A936-80257AF8F24F}" dt="2026-09-06T16:12:45.158" v="211" actId="1076"/>
          <ac:spMkLst>
            <pc:docMk/>
            <pc:sldMk cId="2986091532" sldId="478"/>
            <ac:spMk id="96" creationId="{43B9198E-092A-9BA4-E770-B551D722C950}"/>
          </ac:spMkLst>
        </pc:spChg>
        <pc:graphicFrameChg chg="add del mod modGraphic">
          <ac:chgData name="shravya sudharshan" userId="c01df4a83e375d2f" providerId="LiveId" clId="{E27EE43F-81E9-458E-A936-80257AF8F24F}" dt="2026-09-06T16:14:56.432" v="247" actId="478"/>
          <ac:graphicFrameMkLst>
            <pc:docMk/>
            <pc:sldMk cId="2986091532" sldId="478"/>
            <ac:graphicFrameMk id="2" creationId="{BBDFFFC5-76FC-B80E-79A2-D4A2EE7D5737}"/>
          </ac:graphicFrameMkLst>
        </pc:graphicFrameChg>
        <pc:graphicFrameChg chg="add mod modGraphic">
          <ac:chgData name="shravya sudharshan" userId="c01df4a83e375d2f" providerId="LiveId" clId="{E27EE43F-81E9-458E-A936-80257AF8F24F}" dt="2026-09-06T16:26:14.320" v="330" actId="122"/>
          <ac:graphicFrameMkLst>
            <pc:docMk/>
            <pc:sldMk cId="2986091532" sldId="478"/>
            <ac:graphicFrameMk id="4" creationId="{6382B629-15CC-0F1E-6547-24EC053CCA40}"/>
          </ac:graphicFrameMkLst>
        </pc:graphicFrameChg>
      </pc:sldChg>
      <pc:sldChg chg="addSp delSp modSp mod">
        <pc:chgData name="shravya sudharshan" userId="c01df4a83e375d2f" providerId="LiveId" clId="{E27EE43F-81E9-458E-A936-80257AF8F24F}" dt="2026-09-06T16:00:42.623" v="137" actId="14734"/>
        <pc:sldMkLst>
          <pc:docMk/>
          <pc:sldMk cId="440072185" sldId="479"/>
        </pc:sldMkLst>
        <pc:graphicFrameChg chg="add mod modGraphic">
          <ac:chgData name="shravya sudharshan" userId="c01df4a83e375d2f" providerId="LiveId" clId="{E27EE43F-81E9-458E-A936-80257AF8F24F}" dt="2026-09-06T16:00:42.623" v="137" actId="14734"/>
          <ac:graphicFrameMkLst>
            <pc:docMk/>
            <pc:sldMk cId="440072185" sldId="479"/>
            <ac:graphicFrameMk id="2" creationId="{5EF071BA-C998-B9AD-228C-C81EEABC7EF4}"/>
          </ac:graphicFrameMkLst>
        </pc:graphicFrameChg>
        <pc:graphicFrameChg chg="del">
          <ac:chgData name="shravya sudharshan" userId="c01df4a83e375d2f" providerId="LiveId" clId="{E27EE43F-81E9-458E-A936-80257AF8F24F}" dt="2026-09-06T15:50:57.414" v="0" actId="478"/>
          <ac:graphicFrameMkLst>
            <pc:docMk/>
            <pc:sldMk cId="440072185" sldId="479"/>
            <ac:graphicFrameMk id="7" creationId="{BEE51741-7D51-7126-C9F6-B2A215EDD87A}"/>
          </ac:graphicFrameMkLst>
        </pc:graphicFrameChg>
      </pc:sldChg>
      <pc:sldChg chg="modSp mod">
        <pc:chgData name="shravya sudharshan" userId="c01df4a83e375d2f" providerId="LiveId" clId="{E27EE43F-81E9-458E-A936-80257AF8F24F}" dt="2026-09-06T15:52:52.228" v="41" actId="122"/>
        <pc:sldMkLst>
          <pc:docMk/>
          <pc:sldMk cId="2438272818" sldId="480"/>
        </pc:sldMkLst>
        <pc:graphicFrameChg chg="modGraphic">
          <ac:chgData name="shravya sudharshan" userId="c01df4a83e375d2f" providerId="LiveId" clId="{E27EE43F-81E9-458E-A936-80257AF8F24F}" dt="2026-09-06T15:52:52.228" v="41" actId="122"/>
          <ac:graphicFrameMkLst>
            <pc:docMk/>
            <pc:sldMk cId="2438272818" sldId="480"/>
            <ac:graphicFrameMk id="4" creationId="{4DCFADA8-7E50-44AF-3312-DF60337CC8B9}"/>
          </ac:graphicFrameMkLst>
        </pc:graphicFrameChg>
      </pc:sldChg>
      <pc:sldChg chg="addSp modSp new mod ord">
        <pc:chgData name="shravya sudharshan" userId="c01df4a83e375d2f" providerId="LiveId" clId="{E27EE43F-81E9-458E-A936-80257AF8F24F}" dt="2026-09-06T16:11:05.770" v="204" actId="12"/>
        <pc:sldMkLst>
          <pc:docMk/>
          <pc:sldMk cId="44772862" sldId="481"/>
        </pc:sldMkLst>
        <pc:spChg chg="add mod">
          <ac:chgData name="shravya sudharshan" userId="c01df4a83e375d2f" providerId="LiveId" clId="{E27EE43F-81E9-458E-A936-80257AF8F24F}" dt="2026-09-06T16:11:05.770" v="204" actId="12"/>
          <ac:spMkLst>
            <pc:docMk/>
            <pc:sldMk cId="44772862" sldId="481"/>
            <ac:spMk id="3" creationId="{7AE6AFC9-6E4F-01B7-E6EF-3694CDC61430}"/>
          </ac:spMkLst>
        </pc:spChg>
      </pc:sldChg>
      <pc:sldChg chg="new del">
        <pc:chgData name="shravya sudharshan" userId="c01df4a83e375d2f" providerId="LiveId" clId="{E27EE43F-81E9-458E-A936-80257AF8F24F}" dt="2026-09-06T16:07:13.239" v="139" actId="2696"/>
        <pc:sldMkLst>
          <pc:docMk/>
          <pc:sldMk cId="3710629521" sldId="4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02D6882-F487-2BBE-6EE7-E6E2A877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D233CCE-6DC1-DF39-7D4B-A750048383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1C56AB1-8891-0ED9-FDF2-23495F7D0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1544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235C88D-C7FC-8FBD-E724-18C9894A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2691D9E-4DBC-C04A-11B4-E84B361A10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AD666AE-999F-7381-3C0C-EFC56DD91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008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avyasowmya29-bot/RapidAi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560060"/>
          </a:xfrm>
        </p:spPr>
        <p:txBody>
          <a:bodyPr/>
          <a:lstStyle/>
          <a:p>
            <a:pPr algn="ctr"/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BCA Mini Project (Review I)</a:t>
            </a:r>
            <a:b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RAPIDAID — A Multilingual, AI-Powered, Confidence-Adaptive Emergency First-Response Guidance System</a:t>
            </a:r>
            <a:br>
              <a:rPr lang="en-IN" sz="24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3920" y="1235813"/>
            <a:ext cx="10515600" cy="4661672"/>
          </a:xfrm>
        </p:spPr>
        <p:txBody>
          <a:bodyPr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the Presidency University, Bengaluru in partial fulfillment  for the award of the degree of  Bachelor of Computer Applications(BCA)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Number : </a:t>
            </a:r>
          </a:p>
          <a:p>
            <a:pPr marL="0" indent="0" algn="ctr">
              <a:buNone/>
            </a:pPr>
            <a:endParaRPr lang="en-US" sz="1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None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</a:p>
          <a:p>
            <a:pPr marL="0" indent="0" algn="ctr" eaLnBrk="1" hangingPunct="1">
              <a:buNone/>
              <a:defRPr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Aswathy N Rajan</a:t>
            </a:r>
            <a:b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IN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BCA</a:t>
            </a:r>
            <a:b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Presidency School of Information Science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F41E16-89AD-439E-0F3B-7050F668B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441567"/>
              </p:ext>
            </p:extLst>
          </p:nvPr>
        </p:nvGraphicFramePr>
        <p:xfrm>
          <a:off x="3850640" y="2240994"/>
          <a:ext cx="458216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160">
                  <a:extLst>
                    <a:ext uri="{9D8B030D-6E8A-4147-A177-3AD203B41FA5}">
                      <a16:colId xmlns:a16="http://schemas.microsoft.com/office/drawing/2014/main" val="389316561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944878140"/>
                    </a:ext>
                  </a:extLst>
                </a:gridCol>
              </a:tblGrid>
              <a:tr h="35238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50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Shravya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20241BCA0077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163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Swathi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20241BCA0148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259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Shriya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20241BCA0042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77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Sinchana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20241BCA0025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53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468273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Tools and Technologies to be used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317CE0-94D4-BCB9-D348-4A6AC6EDE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0488" y="1051032"/>
            <a:ext cx="11212623" cy="4209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During emergencies, bystanders may hesitate to provide immediate first-response assistance due to panic, lack of first-aid knowledge, language barriers, and uncertainty about what to do.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 situations such as unresponsiveness, abnormal or absent breathing, choking, severe bleeding, sudden falls, and serious injuries, immediate and appropriate action can be extremely important. </a:t>
            </a:r>
            <a:r>
              <a:rPr lang="en-IN" sz="2400" dirty="0" err="1"/>
              <a:t>RapidAid</a:t>
            </a:r>
            <a:r>
              <a:rPr lang="en-IN" sz="2400" dirty="0"/>
              <a:t> aims to assist bystanders during the critical period before professional medical assistance arrives.</a:t>
            </a:r>
            <a:br>
              <a:rPr lang="en-IN" sz="2400" dirty="0"/>
            </a:br>
            <a:endParaRPr lang="en-US" altLang="en-US" sz="24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lvl="0" algn="just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dirty="0"/>
              <a:t>Existing solutions may provide general first-aid information without adapting guidance to the user's emergency, confidence level, or preferred language. </a:t>
            </a:r>
            <a:r>
              <a:rPr lang="en-IN" sz="2400" dirty="0" err="1"/>
              <a:t>RapidAid</a:t>
            </a:r>
            <a:r>
              <a:rPr lang="en-IN" sz="2400" dirty="0"/>
              <a:t> addresses this gap through interactive, multilingual, AI-assisted, and confidence-adaptive first-response guidance.</a:t>
            </a:r>
            <a:endParaRPr lang="en-US" altLang="en-US" sz="24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F2AF7-4445-4C0F-225B-2012C6BA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642785-B30D-05EA-E55D-6361C4432965}"/>
              </a:ext>
            </a:extLst>
          </p:cNvPr>
          <p:cNvSpPr/>
          <p:nvPr/>
        </p:nvSpPr>
        <p:spPr>
          <a:xfrm>
            <a:off x="2741907" y="0"/>
            <a:ext cx="825691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SAMPLE 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CFADA8-7E50-44AF-3312-DF60337CC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415838"/>
              </p:ext>
            </p:extLst>
          </p:nvPr>
        </p:nvGraphicFramePr>
        <p:xfrm>
          <a:off x="186420" y="716589"/>
          <a:ext cx="11835004" cy="43477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1202">
                  <a:extLst>
                    <a:ext uri="{9D8B030D-6E8A-4147-A177-3AD203B41FA5}">
                      <a16:colId xmlns:a16="http://schemas.microsoft.com/office/drawing/2014/main" val="2898836346"/>
                    </a:ext>
                  </a:extLst>
                </a:gridCol>
                <a:gridCol w="3867325">
                  <a:extLst>
                    <a:ext uri="{9D8B030D-6E8A-4147-A177-3AD203B41FA5}">
                      <a16:colId xmlns:a16="http://schemas.microsoft.com/office/drawing/2014/main" val="509363289"/>
                    </a:ext>
                  </a:extLst>
                </a:gridCol>
                <a:gridCol w="6308521">
                  <a:extLst>
                    <a:ext uri="{9D8B030D-6E8A-4147-A177-3AD203B41FA5}">
                      <a16:colId xmlns:a16="http://schemas.microsoft.com/office/drawing/2014/main" val="1898081810"/>
                    </a:ext>
                  </a:extLst>
                </a:gridCol>
                <a:gridCol w="947956">
                  <a:extLst>
                    <a:ext uri="{9D8B030D-6E8A-4147-A177-3AD203B41FA5}">
                      <a16:colId xmlns:a16="http://schemas.microsoft.com/office/drawing/2014/main" val="1294926862"/>
                    </a:ext>
                  </a:extLst>
                </a:gridCol>
              </a:tblGrid>
              <a:tr h="40753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27130"/>
                  </a:ext>
                </a:extLst>
              </a:tr>
              <a:tr h="748829">
                <a:tc>
                  <a:txBody>
                    <a:bodyPr/>
                    <a:lstStyle/>
                    <a:p>
                      <a:r>
                        <a:rPr lang="en-IN" sz="14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Evaluation of M-AID, a first aid application for mobile 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Evaluated a mobile first-aid application that used intelligent </a:t>
                      </a:r>
                      <a:r>
                        <a:rPr lang="en-IN" sz="1400" b="1" dirty="0"/>
                        <a:t>yes/no questions</a:t>
                      </a:r>
                      <a:r>
                        <a:rPr lang="en-IN" sz="1400" dirty="0"/>
                        <a:t> to assess an emergency and provide detailed instructions. The study found that the app could support CPR performance, but it could not replace practical first-aid training.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964022"/>
                  </a:ext>
                </a:extLst>
              </a:tr>
              <a:tr h="748829">
                <a:tc>
                  <a:txBody>
                    <a:bodyPr/>
                    <a:lstStyle/>
                    <a:p>
                      <a:r>
                        <a:rPr lang="en-IN" sz="14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Cell Phone Cardiopulmonary Resuscitation: Audio Instructions When Needed by Lay Rescuers: A Randomized, Controlled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Found that prerecorded CPR audio instructions improved compression rate, depth, hand placement, and reduced pauses compared with no phone assistance. This supports </a:t>
                      </a:r>
                      <a:r>
                        <a:rPr lang="en-IN" sz="1400" dirty="0" err="1"/>
                        <a:t>RapidAid's</a:t>
                      </a:r>
                      <a:r>
                        <a:rPr lang="en-IN" sz="1400" dirty="0"/>
                        <a:t> use of </a:t>
                      </a:r>
                      <a:r>
                        <a:rPr lang="en-IN" sz="1400" b="1" dirty="0"/>
                        <a:t>voice-based, step-by-step emergency guidance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1668"/>
                  </a:ext>
                </a:extLst>
              </a:tr>
              <a:tr h="748829">
                <a:tc>
                  <a:txBody>
                    <a:bodyPr/>
                    <a:lstStyle/>
                    <a:p>
                      <a:r>
                        <a:rPr lang="en-IN" sz="1400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Medical Correctness and User Friendliness of Available Apps for Cardiopulmonary Resuscitation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Reviewed CPR apps and found that only a small proportion fulfilled all selected guideline-adherence criteria, highlighting the need for medically reviewed and user-friendly emergency guidance.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839568"/>
                  </a:ext>
                </a:extLst>
              </a:tr>
              <a:tr h="748829">
                <a:tc>
                  <a:txBody>
                    <a:bodyPr/>
                    <a:lstStyle/>
                    <a:p>
                      <a:r>
                        <a:rPr lang="en-IN" sz="1400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Interventions to Improve the Quality of Bystander Cardiopulmonary Resuscitation: A Systematic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Reviewed interventions such as dispatcher-assisted CPR, real-time feedback, and mobile CPR applications, supporting the use of simplified instructions and technology-assisted guidance.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33835"/>
                  </a:ext>
                </a:extLst>
              </a:tr>
              <a:tr h="748829">
                <a:tc>
                  <a:txBody>
                    <a:bodyPr/>
                    <a:lstStyle/>
                    <a:p>
                      <a:r>
                        <a:rPr lang="en-IN" sz="1400" dirty="0"/>
                        <a:t>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Designing an App to Overcome Language Barriers in the Delivery of Emergency Medical Services: Participatory Development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Developed a smartphone-based app to support communication between paramedics and patients who speak different languages, demonstrating the importance of language selection and understandable emergency communication.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289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272818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6FC717-855D-29E5-16CB-275C605E6AE3}"/>
              </a:ext>
            </a:extLst>
          </p:cNvPr>
          <p:cNvSpPr/>
          <p:nvPr/>
        </p:nvSpPr>
        <p:spPr>
          <a:xfrm>
            <a:off x="2741907" y="0"/>
            <a:ext cx="825691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SAMPLE LITERATURE REVIEW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F071BA-C998-B9AD-228C-C81EEABC7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0383"/>
              </p:ext>
            </p:extLst>
          </p:nvPr>
        </p:nvGraphicFramePr>
        <p:xfrm>
          <a:off x="393700" y="701040"/>
          <a:ext cx="11562081" cy="460248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8416">
                  <a:extLst>
                    <a:ext uri="{9D8B030D-6E8A-4147-A177-3AD203B41FA5}">
                      <a16:colId xmlns:a16="http://schemas.microsoft.com/office/drawing/2014/main" val="1335741022"/>
                    </a:ext>
                  </a:extLst>
                </a:gridCol>
                <a:gridCol w="3515604">
                  <a:extLst>
                    <a:ext uri="{9D8B030D-6E8A-4147-A177-3AD203B41FA5}">
                      <a16:colId xmlns:a16="http://schemas.microsoft.com/office/drawing/2014/main" val="800684280"/>
                    </a:ext>
                  </a:extLst>
                </a:gridCol>
                <a:gridCol w="6538152">
                  <a:extLst>
                    <a:ext uri="{9D8B030D-6E8A-4147-A177-3AD203B41FA5}">
                      <a16:colId xmlns:a16="http://schemas.microsoft.com/office/drawing/2014/main" val="1665234485"/>
                    </a:ext>
                  </a:extLst>
                </a:gridCol>
                <a:gridCol w="799909">
                  <a:extLst>
                    <a:ext uri="{9D8B030D-6E8A-4147-A177-3AD203B41FA5}">
                      <a16:colId xmlns:a16="http://schemas.microsoft.com/office/drawing/2014/main" val="3622742844"/>
                    </a:ext>
                  </a:extLst>
                </a:gridCol>
              </a:tblGrid>
              <a:tr h="4081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66110"/>
                  </a:ext>
                </a:extLst>
              </a:tr>
              <a:tr h="755957">
                <a:tc>
                  <a:txBody>
                    <a:bodyPr/>
                    <a:lstStyle/>
                    <a:p>
                      <a:r>
                        <a:rPr lang="en-US" sz="1400" dirty="0"/>
                        <a:t>06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Can a Voice Assistant Help Bystanders Save Lives? A Feasibility Pilot Study Chatbot in Beta Version to Assist OHCA Bystanders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 voice-based chatbot guided participants through cardiac-arrest recognition and CPR. The study found that 91% completed the sequence correctly, but further development was needed to improve response time and CPR feedback.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646998"/>
                  </a:ext>
                </a:extLst>
              </a:tr>
              <a:tr h="755957">
                <a:tc>
                  <a:txBody>
                    <a:bodyPr/>
                    <a:lstStyle/>
                    <a:p>
                      <a:r>
                        <a:rPr lang="en-US" sz="1400" dirty="0"/>
                        <a:t>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Quality of Layperson CPR Instructions From Artificial Intelligence Voice Assistants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Evaluated AI voice assistants and found that many responses were unrelated to CPR or provided incomplete instructions. The study emphasized the need for evidence-based content and prioritizing emergency-service contact.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784796"/>
                  </a:ext>
                </a:extLst>
              </a:tr>
              <a:tr h="1170514">
                <a:tc>
                  <a:txBody>
                    <a:bodyPr/>
                    <a:lstStyle/>
                    <a:p>
                      <a:r>
                        <a:rPr lang="en-US" sz="1400" dirty="0"/>
                        <a:t>08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Overcoming Language Barriers in Paramedic Care With an App Designed to Improve Communication With Foreign-Language Patients: Nonrandomized Controlled Pilot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Evaluated a multilingual emergency communication app supporting 18 languages, with text and audio playback. The study demonstrates how structured multilingual communication can support emergency care.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558504"/>
                  </a:ext>
                </a:extLst>
              </a:tr>
              <a:tr h="755957">
                <a:tc>
                  <a:txBody>
                    <a:bodyPr/>
                    <a:lstStyle/>
                    <a:p>
                      <a:r>
                        <a:rPr lang="en-US" sz="1400" dirty="0"/>
                        <a:t>09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Generative Artificial Intelligence as a Source of Advice on Resuscitation and First Aid for Laypeople: A Scoping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Reviewed 19 studies and found frequent problems with AI-generated first-aid advice, including incomplete and inaccurate instructions. The findings support using AI with structured, medically reviewed guidance.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427788"/>
                  </a:ext>
                </a:extLst>
              </a:tr>
              <a:tr h="755957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Development and Evaluation of Multi-Modal Universal CPR AI Assistance Response Engine (U-CARE)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Proposed a smartphone-based CPR assistance system combining adaptive AI verbal guidance, multiple languages, and computer vision for CPR feedback. It is closely related to </a:t>
                      </a:r>
                      <a:r>
                        <a:rPr lang="en-IN" sz="1400" dirty="0" err="1"/>
                        <a:t>RapidAid's</a:t>
                      </a:r>
                      <a:r>
                        <a:rPr lang="en-IN" sz="1400" dirty="0"/>
                        <a:t> proposed multimodal assistance approach.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00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072185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B4465-644D-AE78-5D4D-3D8EFEDB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6AFC9-6E4F-01B7-E6EF-3694CDC61430}"/>
              </a:ext>
            </a:extLst>
          </p:cNvPr>
          <p:cNvSpPr txBox="1"/>
          <p:nvPr/>
        </p:nvSpPr>
        <p:spPr>
          <a:xfrm>
            <a:off x="350520" y="365760"/>
            <a:ext cx="105918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Brief Overview of the Project’s Modular Architecture</a:t>
            </a:r>
          </a:p>
          <a:p>
            <a:endParaRPr lang="en-IN" dirty="0"/>
          </a:p>
          <a:p>
            <a:r>
              <a:rPr lang="en-IN" dirty="0" err="1"/>
              <a:t>RapidAid</a:t>
            </a:r>
            <a:r>
              <a:rPr lang="en-IN" dirty="0"/>
              <a:t> is divided into separate modules such as emergency assessment, decision-making, step-by-step guidance, voice assistance, multilingual support, confidence adaptation, and location assistance. These modules work together to provide personalized first-response guidance during emergencies.</a:t>
            </a:r>
            <a:br>
              <a:rPr lang="en-IN" dirty="0"/>
            </a:br>
            <a:endParaRPr lang="en-IN" dirty="0"/>
          </a:p>
          <a:p>
            <a:r>
              <a:rPr lang="en-IN" sz="2800" b="1" dirty="0"/>
              <a:t>Purpose of Dividing the Project into Modules</a:t>
            </a:r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divide the project into smaller and manageable parts.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make development and testing easier.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allow each module to perform a specific function.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improve system maintenance and future updates.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make it easier to add new emergency scenarios, languages, and features.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improve reliability by reducing errors in individual components.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72862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F43742D-E782-7B2B-477C-FB389773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3B9198E-092A-9BA4-E770-B551D722C9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660" y="10699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Module Design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82B629-15CC-0F1E-6547-24EC053CC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969496"/>
              </p:ext>
            </p:extLst>
          </p:nvPr>
        </p:nvGraphicFramePr>
        <p:xfrm>
          <a:off x="419100" y="1222586"/>
          <a:ext cx="11501120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20440">
                  <a:extLst>
                    <a:ext uri="{9D8B030D-6E8A-4147-A177-3AD203B41FA5}">
                      <a16:colId xmlns:a16="http://schemas.microsoft.com/office/drawing/2014/main" val="3413005188"/>
                    </a:ext>
                  </a:extLst>
                </a:gridCol>
                <a:gridCol w="7980680">
                  <a:extLst>
                    <a:ext uri="{9D8B030D-6E8A-4147-A177-3AD203B41FA5}">
                      <a16:colId xmlns:a16="http://schemas.microsoft.com/office/drawing/2014/main" val="1810414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MODULE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814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Emergency Assessment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Identifies the emergency through simple questions about the victim’s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33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Rule-Based Decision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Selects the appropriate first-aid procedure using predefined medically reviewed pathways.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0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Step-by-Step Guidance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Provides clear instructions using text, images, animations, and highlighted action areas.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931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Voice Assistance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Supports speech-to-text and text-to-speech for hands-free guidance.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12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Multilingual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Provides instructions in English, Kannada, Hindi, Telugu, Tamil, and Malayalam.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19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Confidence-Adaptive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Changes the level of explanation based on the user’s confidence and ability to act.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735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Location Assistance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Displays emergency contacts, nearby hospitals, navigation, and location-sharing options.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11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Emergency Session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Maintains the current emergency session and supports pause, resume, and repeat instructions.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146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091532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8FEFCB6-E495-C8D1-A4B4-DB711C75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7EE171-E143-6383-8BA5-E447B945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823" y="-17758"/>
            <a:ext cx="10696354" cy="1143000"/>
          </a:xfrm>
        </p:spPr>
        <p:txBody>
          <a:bodyPr/>
          <a:lstStyle/>
          <a:p>
            <a:pPr algn="ctr"/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Tools And Technologies To Be Used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158C02-4ADF-2A2E-85C5-99FC60D09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917" y="985815"/>
            <a:ext cx="5068186" cy="4157685"/>
          </a:xfrm>
        </p:spPr>
        <p:txBody>
          <a:bodyPr/>
          <a:lstStyle/>
          <a:p>
            <a:pPr marL="0" indent="0">
              <a:buNone/>
            </a:pPr>
            <a:r>
              <a:rPr lang="en-IN" sz="1400" b="1" dirty="0"/>
              <a:t>Development Tools</a:t>
            </a:r>
          </a:p>
          <a:p>
            <a:pPr lvl="0"/>
            <a:r>
              <a:rPr lang="en-IN" sz="1400" b="1" dirty="0"/>
              <a:t>Visual Studio Code</a:t>
            </a:r>
            <a:r>
              <a:rPr lang="en-IN" sz="1400" dirty="0"/>
              <a:t> – For writing and managing code.</a:t>
            </a:r>
          </a:p>
          <a:p>
            <a:pPr lvl="0"/>
            <a:r>
              <a:rPr lang="en-IN" sz="1400" b="1" dirty="0"/>
              <a:t>Figma</a:t>
            </a:r>
            <a:r>
              <a:rPr lang="en-IN" sz="1400" dirty="0"/>
              <a:t> – For designing the user interface.</a:t>
            </a:r>
          </a:p>
          <a:p>
            <a:pPr lvl="0"/>
            <a:r>
              <a:rPr lang="en-IN" sz="1400" b="1" dirty="0"/>
              <a:t>GitHub</a:t>
            </a:r>
            <a:r>
              <a:rPr lang="en-IN" sz="1400" dirty="0"/>
              <a:t> – For version control and project collaboration.</a:t>
            </a:r>
          </a:p>
          <a:p>
            <a:pPr marL="0" indent="0">
              <a:buNone/>
            </a:pPr>
            <a:r>
              <a:rPr lang="en-IN" sz="1400" b="1" dirty="0"/>
              <a:t>Programming Languages</a:t>
            </a:r>
          </a:p>
          <a:p>
            <a:pPr lvl="0"/>
            <a:r>
              <a:rPr lang="en-IN" sz="1400" b="1" dirty="0"/>
              <a:t>Dart</a:t>
            </a:r>
            <a:r>
              <a:rPr lang="en-IN" sz="1400" dirty="0"/>
              <a:t> – For Flutter application development.</a:t>
            </a:r>
          </a:p>
          <a:p>
            <a:pPr lvl="0"/>
            <a:r>
              <a:rPr lang="en-IN" sz="1400" b="1" dirty="0"/>
              <a:t>Python</a:t>
            </a:r>
            <a:r>
              <a:rPr lang="en-IN" sz="1400" dirty="0"/>
              <a:t> – For backend, AI, and decision-making logic.</a:t>
            </a:r>
          </a:p>
          <a:p>
            <a:pPr marL="0" indent="0">
              <a:buNone/>
            </a:pPr>
            <a:r>
              <a:rPr lang="en-IN" sz="1400" b="1" dirty="0"/>
              <a:t>Frameworks and Libraries</a:t>
            </a:r>
          </a:p>
          <a:p>
            <a:pPr lvl="0"/>
            <a:r>
              <a:rPr lang="en-IN" sz="1400" b="1" dirty="0"/>
              <a:t>Flutter</a:t>
            </a:r>
            <a:r>
              <a:rPr lang="en-IN" sz="1400" dirty="0"/>
              <a:t> – For developing the mobile application.</a:t>
            </a:r>
          </a:p>
          <a:p>
            <a:pPr lvl="0"/>
            <a:r>
              <a:rPr lang="en-IN" sz="1400" b="1" dirty="0" err="1"/>
              <a:t>FastAPI</a:t>
            </a:r>
            <a:r>
              <a:rPr lang="en-IN" sz="1400" dirty="0"/>
              <a:t> – For creating the backend API.</a:t>
            </a:r>
          </a:p>
          <a:p>
            <a:pPr lvl="0"/>
            <a:r>
              <a:rPr lang="en-IN" sz="1400" b="1" dirty="0"/>
              <a:t>OpenCV / </a:t>
            </a:r>
            <a:r>
              <a:rPr lang="en-IN" sz="1400" b="1" dirty="0" err="1"/>
              <a:t>MediaPipe</a:t>
            </a:r>
            <a:r>
              <a:rPr lang="en-IN" sz="1400" dirty="0"/>
              <a:t> – For optional camera-based assistance.</a:t>
            </a:r>
          </a:p>
          <a:p>
            <a:pPr lvl="0"/>
            <a:r>
              <a:rPr lang="en-IN" sz="1400" b="1" dirty="0"/>
              <a:t>TensorFlow</a:t>
            </a:r>
            <a:r>
              <a:rPr lang="en-IN" sz="1400" dirty="0"/>
              <a:t> – For optional AI-based detection.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B5B7C4-812D-BC1D-08B5-ACA435AD9D5A}"/>
              </a:ext>
            </a:extLst>
          </p:cNvPr>
          <p:cNvSpPr txBox="1"/>
          <p:nvPr/>
        </p:nvSpPr>
        <p:spPr>
          <a:xfrm>
            <a:off x="5715000" y="1928177"/>
            <a:ext cx="5729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ea typeface="Calibri" panose="020F0502020204030204" pitchFamily="34" charset="0"/>
                <a:cs typeface="Calibri" panose="020F0502020204030204" pitchFamily="34" charset="0"/>
              </a:rPr>
              <a:t>Database and Services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ea typeface="Calibri" panose="020F0502020204030204" pitchFamily="34" charset="0"/>
                <a:cs typeface="Calibri" panose="020F0502020204030204" pitchFamily="34" charset="0"/>
              </a:rPr>
              <a:t>Firebase / PostgreSQL</a:t>
            </a:r>
            <a:r>
              <a:rPr lang="en-IN" sz="1400" dirty="0">
                <a:ea typeface="Calibri" panose="020F0502020204030204" pitchFamily="34" charset="0"/>
                <a:cs typeface="Calibri" panose="020F0502020204030204" pitchFamily="34" charset="0"/>
              </a:rPr>
              <a:t> – For storing user and emergency session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ea typeface="Calibri" panose="020F0502020204030204" pitchFamily="34" charset="0"/>
                <a:cs typeface="Calibri" panose="020F0502020204030204" pitchFamily="34" charset="0"/>
              </a:rPr>
              <a:t>Firebase Authentication</a:t>
            </a:r>
            <a:r>
              <a:rPr lang="en-IN" sz="1400" dirty="0">
                <a:ea typeface="Calibri" panose="020F0502020204030204" pitchFamily="34" charset="0"/>
                <a:cs typeface="Calibri" panose="020F0502020204030204" pitchFamily="34" charset="0"/>
              </a:rPr>
              <a:t> – For secure user login.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ea typeface="Calibri" panose="020F0502020204030204" pitchFamily="34" charset="0"/>
                <a:cs typeface="Calibri" panose="020F0502020204030204" pitchFamily="34" charset="0"/>
              </a:rPr>
              <a:t>GPS and Maps API</a:t>
            </a:r>
            <a:r>
              <a:rPr lang="en-IN" sz="1400" dirty="0">
                <a:ea typeface="Calibri" panose="020F0502020204030204" pitchFamily="34" charset="0"/>
                <a:cs typeface="Calibri" panose="020F0502020204030204" pitchFamily="34" charset="0"/>
              </a:rPr>
              <a:t> – For location and nearby hospital assistance.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ea typeface="Calibri" panose="020F0502020204030204" pitchFamily="34" charset="0"/>
                <a:cs typeface="Calibri" panose="020F0502020204030204" pitchFamily="34" charset="0"/>
              </a:rPr>
              <a:t>STT/TTS APIs</a:t>
            </a:r>
            <a:r>
              <a:rPr lang="en-IN" sz="1400" dirty="0">
                <a:ea typeface="Calibri" panose="020F0502020204030204" pitchFamily="34" charset="0"/>
                <a:cs typeface="Calibri" panose="020F0502020204030204" pitchFamily="34" charset="0"/>
              </a:rPr>
              <a:t> – For voice input and audio instructions.</a:t>
            </a:r>
          </a:p>
          <a:p>
            <a:r>
              <a:rPr lang="en-IN" sz="1400" b="1" dirty="0">
                <a:ea typeface="Calibri" panose="020F0502020204030204" pitchFamily="34" charset="0"/>
                <a:cs typeface="Calibri" panose="020F0502020204030204" pitchFamily="34" charset="0"/>
              </a:rPr>
              <a:t>Additional Hardware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ea typeface="Calibri" panose="020F0502020204030204" pitchFamily="34" charset="0"/>
                <a:cs typeface="Calibri" panose="020F0502020204030204" pitchFamily="34" charset="0"/>
              </a:rPr>
              <a:t>ESP32</a:t>
            </a:r>
            <a:r>
              <a:rPr lang="en-IN" sz="1400" dirty="0">
                <a:ea typeface="Calibri" panose="020F0502020204030204" pitchFamily="34" charset="0"/>
                <a:cs typeface="Calibri" panose="020F0502020204030204" pitchFamily="34" charset="0"/>
              </a:rPr>
              <a:t> – For optional fall-detection sensors using an accelerometer and gyroscope.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50896396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332740" y="65532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IN" sz="1800" b="1" dirty="0"/>
              <a:t>  GitHub Repository:</a:t>
            </a:r>
            <a:r>
              <a:rPr lang="en-IN" sz="1800" dirty="0"/>
              <a:t> </a:t>
            </a:r>
            <a:r>
              <a:rPr lang="en-IN" sz="1800" dirty="0" err="1"/>
              <a:t>RapidAid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Purpose:</a:t>
            </a:r>
            <a:r>
              <a:rPr lang="en-IN" sz="1800" dirty="0"/>
              <a:t> To store and showcase the project documentation, source code, designs, and future updates.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Repository Link:</a:t>
            </a:r>
            <a:r>
              <a:rPr lang="en-IN" sz="1800" dirty="0"/>
              <a:t> </a:t>
            </a:r>
            <a:r>
              <a:rPr lang="en-IN" sz="1800" dirty="0">
                <a:hlinkClick r:id="rId3"/>
              </a:rPr>
              <a:t>shravyasowmya29-bot/</a:t>
            </a:r>
            <a:r>
              <a:rPr lang="en-IN" sz="1800" dirty="0" err="1">
                <a:hlinkClick r:id="rId3"/>
              </a:rPr>
              <a:t>RapidAid</a:t>
            </a:r>
            <a:r>
              <a:rPr lang="en-IN" sz="1800" dirty="0">
                <a:hlinkClick r:id="rId3"/>
              </a:rPr>
              <a:t>: </a:t>
            </a:r>
            <a:r>
              <a:rPr lang="en-IN" sz="1800" dirty="0" err="1">
                <a:hlinkClick r:id="rId3"/>
              </a:rPr>
              <a:t>RapidAid</a:t>
            </a:r>
            <a:r>
              <a:rPr lang="en-IN" sz="1800" dirty="0">
                <a:hlinkClick r:id="rId3"/>
              </a:rPr>
              <a:t> is a multilingual, AI-powered, confidence-adaptive emergency first-response guidance system.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Access:</a:t>
            </a:r>
            <a:r>
              <a:rPr lang="en-IN" sz="1800" dirty="0"/>
              <a:t> Public</a:t>
            </a:r>
          </a:p>
          <a:p>
            <a:pPr marL="342900" indent="-190500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08000" y="10699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4D6BD3-A358-9EF8-3BCC-850408CF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19" y="594498"/>
            <a:ext cx="10951481" cy="457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408940" y="91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241300" y="579258"/>
            <a:ext cx="11844020" cy="470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lvl="0"/>
            <a:r>
              <a:rPr lang="en-IN" sz="2500" b="1" dirty="0" err="1"/>
              <a:t>Birkun</a:t>
            </a:r>
            <a:r>
              <a:rPr lang="en-IN" sz="2500" b="1" dirty="0"/>
              <a:t>, A., &amp; Ugur, S. (2018).</a:t>
            </a:r>
            <a:r>
              <a:rPr lang="en-IN" sz="2500" dirty="0"/>
              <a:t> Medical correctness and user-friendliness of available apps for cardiopulmonary resuscitation: Systematic search combined with guideline adherence and usability evaluation. </a:t>
            </a:r>
            <a:r>
              <a:rPr lang="en-IN" sz="2500" i="1" dirty="0"/>
              <a:t>JMIR mHealth and </a:t>
            </a:r>
            <a:r>
              <a:rPr lang="en-IN" sz="2500" i="1" dirty="0" err="1"/>
              <a:t>uHealth</a:t>
            </a:r>
            <a:r>
              <a:rPr lang="en-IN" sz="2500" i="1" dirty="0"/>
              <a:t>, 6</a:t>
            </a:r>
            <a:r>
              <a:rPr lang="en-IN" sz="2500" dirty="0"/>
              <a:t>(10). </a:t>
            </a:r>
          </a:p>
          <a:p>
            <a:pPr lvl="0"/>
            <a:r>
              <a:rPr lang="en-IN" sz="2500" b="1" dirty="0" err="1"/>
              <a:t>Böttiger</a:t>
            </a:r>
            <a:r>
              <a:rPr lang="en-IN" sz="2500" b="1" dirty="0"/>
              <a:t>, B. W., et al. (2024). </a:t>
            </a:r>
            <a:r>
              <a:rPr lang="en-IN" sz="2500" dirty="0"/>
              <a:t>Enhancing the chain of survival: The role of smartphone applications in cardiopulmonary resuscitation. </a:t>
            </a:r>
            <a:r>
              <a:rPr lang="en-IN" sz="2500" i="1" dirty="0"/>
              <a:t>Journal article</a:t>
            </a:r>
            <a:r>
              <a:rPr lang="en-IN" sz="2500" dirty="0"/>
              <a:t>. </a:t>
            </a:r>
          </a:p>
          <a:p>
            <a:pPr lvl="0"/>
            <a:r>
              <a:rPr lang="en-IN" sz="2500" b="1" dirty="0" err="1"/>
              <a:t>Metelmann</a:t>
            </a:r>
            <a:r>
              <a:rPr lang="en-IN" sz="2500" b="1" dirty="0"/>
              <a:t>, C., </a:t>
            </a:r>
            <a:r>
              <a:rPr lang="en-IN" sz="2500" b="1" dirty="0" err="1"/>
              <a:t>Metelmann</a:t>
            </a:r>
            <a:r>
              <a:rPr lang="en-IN" sz="2500" b="1" dirty="0"/>
              <a:t>, B., Schuffert, L., </a:t>
            </a:r>
            <a:r>
              <a:rPr lang="en-IN" sz="2500" b="1" dirty="0" err="1"/>
              <a:t>Hahnenkamp</a:t>
            </a:r>
            <a:r>
              <a:rPr lang="en-IN" sz="2500" b="1" dirty="0"/>
              <a:t>, K., Vollmer, M., &amp; Brinkrolf, P. (2021). </a:t>
            </a:r>
            <a:r>
              <a:rPr lang="en-IN" sz="2500" dirty="0"/>
              <a:t>Smartphone apps to support laypersons in bystander CPR are of ambivalent benefit: A controlled trial using medical simulation. </a:t>
            </a:r>
            <a:r>
              <a:rPr lang="en-IN" sz="2500" i="1" dirty="0"/>
              <a:t>Scandinavian Journal of Trauma, Resuscitation and Emergency Medicine, 29</a:t>
            </a:r>
            <a:r>
              <a:rPr lang="en-IN" sz="2500" dirty="0"/>
              <a:t>, 76. </a:t>
            </a:r>
          </a:p>
          <a:p>
            <a:pPr lvl="0"/>
            <a:r>
              <a:rPr lang="en-IN" sz="2500" b="1" dirty="0"/>
              <a:t>Márquez-Hernández, V. V., Gutiérrez-Puertas, L., Garrido-Molina, J. M., García-Viola, A., Granados-</a:t>
            </a:r>
            <a:r>
              <a:rPr lang="en-IN" sz="2500" b="1" dirty="0" err="1"/>
              <a:t>Gámez</a:t>
            </a:r>
            <a:r>
              <a:rPr lang="en-IN" sz="2500" b="1" dirty="0"/>
              <a:t>, G., &amp; Aguilera-Manrique, G. (2020). </a:t>
            </a:r>
            <a:r>
              <a:rPr lang="en-IN" sz="2500" dirty="0"/>
              <a:t>Using a mobile phone application versus telephone assistance during cardiopulmonary resuscitation: A randomized comparative study. </a:t>
            </a:r>
            <a:r>
              <a:rPr lang="en-IN" sz="2500" i="1" dirty="0"/>
              <a:t>Journal of Emergency Nursing, 46</a:t>
            </a:r>
            <a:r>
              <a:rPr lang="en-IN" sz="2500" dirty="0"/>
              <a:t>(4), 460–467. </a:t>
            </a:r>
          </a:p>
          <a:p>
            <a:pPr lvl="0"/>
            <a:r>
              <a:rPr lang="en-IN" sz="2500" b="1" dirty="0"/>
              <a:t>Murk, W., </a:t>
            </a:r>
            <a:r>
              <a:rPr lang="en-IN" sz="2500" b="1" dirty="0" err="1"/>
              <a:t>Goralnick</a:t>
            </a:r>
            <a:r>
              <a:rPr lang="en-IN" sz="2500" b="1" dirty="0"/>
              <a:t>, E., Brownstein, J. S., &amp; Landman, A. B. (2023). </a:t>
            </a:r>
            <a:r>
              <a:rPr lang="en-IN" sz="2500" dirty="0"/>
              <a:t>Quality of layperson CPR instructions from artificial intelligence voice assistants. </a:t>
            </a:r>
            <a:r>
              <a:rPr lang="en-IN" sz="2500" i="1" dirty="0"/>
              <a:t>JAMA Network Open, 6</a:t>
            </a:r>
            <a:r>
              <a:rPr lang="en-IN" sz="2500" dirty="0"/>
              <a:t>(8). </a:t>
            </a:r>
          </a:p>
          <a:p>
            <a:pPr lvl="0"/>
            <a:r>
              <a:rPr lang="en-IN" sz="2500" b="1" dirty="0"/>
              <a:t>Berglund, E., Claesson, A., Nordberg, P., et al. (2018).</a:t>
            </a:r>
            <a:r>
              <a:rPr lang="en-IN" sz="2500" dirty="0"/>
              <a:t> A smartphone application for dispatch of lay responders to out-of-hospital cardiac arrests. </a:t>
            </a:r>
            <a:r>
              <a:rPr lang="en-IN" sz="2500" i="1" dirty="0"/>
              <a:t>Resuscitation, 126</a:t>
            </a:r>
            <a:r>
              <a:rPr lang="en-IN" sz="2500" dirty="0"/>
              <a:t>, 160–165. </a:t>
            </a:r>
          </a:p>
          <a:p>
            <a:pPr lvl="0"/>
            <a:r>
              <a:rPr lang="en-IN" sz="2500" b="1" dirty="0"/>
              <a:t>Caputo, M. L., et al. (2020). </a:t>
            </a:r>
            <a:r>
              <a:rPr lang="en-IN" sz="2500" dirty="0"/>
              <a:t>Enhancing citizen response to out-of-hospital cardiac arrest: A systematic review of mobile-phone systems to alert citizens as first responders. </a:t>
            </a:r>
            <a:r>
              <a:rPr lang="en-IN" sz="2500" i="1" dirty="0"/>
              <a:t>Resuscitation, 152</a:t>
            </a:r>
            <a:r>
              <a:rPr lang="en-IN" sz="2500" dirty="0"/>
              <a:t>, 16–25. </a:t>
            </a:r>
          </a:p>
          <a:p>
            <a:pPr lvl="0"/>
            <a:r>
              <a:rPr lang="en-IN" sz="2500" b="1" dirty="0" err="1"/>
              <a:t>Böttiger</a:t>
            </a:r>
            <a:r>
              <a:rPr lang="en-IN" sz="2500" b="1" dirty="0"/>
              <a:t>, B. W., et al. (2020). </a:t>
            </a:r>
            <a:r>
              <a:rPr lang="en-IN" sz="2500" dirty="0"/>
              <a:t>Video-assisted cardiopulmonary resuscitation via smartphone improves quality of resuscitation: A randomised controlled simulation trial. </a:t>
            </a:r>
            <a:r>
              <a:rPr lang="en-IN" sz="2500" i="1" dirty="0"/>
              <a:t>Resuscitation</a:t>
            </a:r>
            <a:r>
              <a:rPr lang="en-IN" sz="2500" dirty="0"/>
              <a:t>. </a:t>
            </a:r>
          </a:p>
          <a:p>
            <a:pPr marL="0" indent="0">
              <a:buNone/>
            </a:pPr>
            <a:r>
              <a:rPr lang="en-IN" sz="2200" b="1" dirty="0">
                <a:solidFill>
                  <a:srgbClr val="FF0000"/>
                </a:solidFill>
              </a:rPr>
              <a:t>Note:</a:t>
            </a:r>
            <a:r>
              <a:rPr lang="en-IN" sz="2200" dirty="0">
                <a:solidFill>
                  <a:srgbClr val="FF0000"/>
                </a:solidFill>
              </a:rPr>
              <a:t> These references support the development of </a:t>
            </a:r>
            <a:r>
              <a:rPr lang="en-IN" sz="2200" dirty="0" err="1">
                <a:solidFill>
                  <a:srgbClr val="FF0000"/>
                </a:solidFill>
              </a:rPr>
              <a:t>RapidAid</a:t>
            </a:r>
            <a:r>
              <a:rPr lang="en-IN" sz="2200" dirty="0">
                <a:solidFill>
                  <a:srgbClr val="FF0000"/>
                </a:solidFill>
              </a:rPr>
              <a:t>, particularly its CPR guidance, voice assistance, smartphone support, AI-based guidance, and emergency-response features.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8019</TotalTime>
  <Words>1558</Words>
  <Application>Microsoft Office PowerPoint</Application>
  <PresentationFormat>Widescreen</PresentationFormat>
  <Paragraphs>149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BCA Mini Project (Review I) RAPIDAID — A Multilingual, AI-Powered, Confidence-Adaptive Emergency First-Response Guidance System  </vt:lpstr>
      <vt:lpstr>Content</vt:lpstr>
      <vt:lpstr>Problem Statement</vt:lpstr>
      <vt:lpstr>PowerPoint Presentation</vt:lpstr>
      <vt:lpstr>PowerPoint Presentation</vt:lpstr>
      <vt:lpstr>PowerPoint Presentation</vt:lpstr>
      <vt:lpstr>Module Design</vt:lpstr>
      <vt:lpstr>Tools And Technologies To Be Used</vt:lpstr>
      <vt:lpstr>PowerPoint Presentation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shravya sudharshan</cp:lastModifiedBy>
  <cp:revision>920</cp:revision>
  <cp:lastPrinted>2018-07-24T06:37:20Z</cp:lastPrinted>
  <dcterms:created xsi:type="dcterms:W3CDTF">2018-06-07T04:06:17Z</dcterms:created>
  <dcterms:modified xsi:type="dcterms:W3CDTF">2026-09-06T17:03:00Z</dcterms:modified>
</cp:coreProperties>
</file>